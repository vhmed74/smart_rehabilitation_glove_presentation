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5400" b="1">
                <a:solidFill>
                  <a:srgbClr val="111827"/>
                </a:solidFill>
              </a:defRPr>
            </a:pPr>
            <a:r>
              <a:t>Smart Rehabilitation Glove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6B7280"/>
                </a:solidFill>
              </a:defRPr>
            </a:pPr>
            <a:r>
              <a:t>A wearable mechatronic device combining TENS therapy, vibration feedback, and real-time force sensing.</a:t>
            </a:r>
            <a:br/>
            <a:br/>
            <a:r>
              <a:t>Graduation Project 2026</a:t>
            </a:r>
            <a:br/>
            <a:r>
              <a:t>Menoufia University</a:t>
            </a:r>
            <a:br/>
            <a:r>
              <a:t>Supervised By: Dr. Essam Nabil</a:t>
            </a:r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60350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Abstract: An Integrated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Overview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A smart wearable rehabilitation glove for patients with neurological impairments.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TENS Module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Transcutaneous Electrical Nerve Stimulation for pain modulation.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Vibration Therapy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ERM haptic actuators providing sensory stimulation.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Force Measurement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FSR sensors mapped to 0-100% grip percentage.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304382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Limited Range of Motion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Fractures and arthritis restrict joint mobility.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Muscle Atrophy &amp; Weakness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Prolonged immobilization leads to muscle wasting.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Sensory Deficits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Nerve damage alters tactile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Chronic Pain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Persistent pain acts as a major barrier.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Our Solution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An integrated wearable glove combining multiple therapies.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Historical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Ancient Era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Primitive splinting and exercises.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18th-19th Century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Surgical pioneers correcting hand deformities.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World Wars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Severe trauma catalyzed advances like FES.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1950s-1977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Hand rehabilitation emerged as a formal specialty.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Today 2026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Smart Rehabilitation Gloves with real-time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Objectives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Restoring Range of Motion (ROM)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Pneumatic-assisted exercises.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Increasing Strength &amp; Dexterity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Strengthening muscles for fine motor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Non-Invasive Pain Management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TENS therapy as a safer alternative to drugs.</a:t>
            </a:r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317508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Objectives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Enhancing Activities of Daily Living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Empowering independent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Improving Coordination &amp; Proprioception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Neuromuscular coordination.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Customized Plans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Individualized protocols tailored to each patient.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Scar Management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Targeted techniques to minimize post-surgical scar tissue.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Input &amp; Sensing Layer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Flex sensors + FSR sensors with 12-bit ADC.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Processing &amp; Control Layer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ESP32 dual-core handles logic and PWM.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Actuation &amp; Power Layer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Solenoid valves + MOSFET + Buck converter.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Feedback &amp; Interface Layer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LCD display showing real-time metrics.</a:t>
            </a:r>
          </a:p>
        </p:txBody>
      </p:sp>
      <p:pic>
        <p:nvPicPr>
          <p:cNvPr id="7" name="Picture 6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7730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Core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ESP32 Microcontroller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Dual-core LX6 processor.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Pneumatic Glove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Inflatable air actuators along each finger.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LCD Display Screen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Shows real-time system data and diagnostics.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MOSFET Module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High-speed switch for valves and motors.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Power Supply Adaptor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Converts 220V AC to DC.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4465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Power Module (LM2596)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Step-down converter for stable voltages.</a:t>
            </a:r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304382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Sensors &amp; Therapy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TENS Cable &amp; Electrodes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Transmits electrical impulses.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Vibration Motor (ERM)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Provides tactile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Force Sensor (FSR)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Thin flexible sensor measuring grip 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Solenoid Valves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Electromechanical air valves.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Voltage Regulator 7805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Stable fixed +5V DC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4465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Air Pressure Sensor HX710B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24-bit ADC chip for closed-loop control.</a:t>
            </a:r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34107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Development Methodology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1. Analysis &amp; Requirements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Defined functional &amp; non-functional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2. Theoretical Design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System decomposed into 4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3. Modular Assembly &amp; Unit Testing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Independent component testing.</a:t>
            </a:r>
          </a:p>
        </p:txBody>
      </p:sp>
      <p:pic>
        <p:nvPicPr>
          <p:cNvPr id="6" name="Picture 5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9377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Development Methodology (2/2)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4. Full System Integration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Unified firmware managing all tasks.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5. Functional Verification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Tested under real-world clinical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6. Calibration &amp; Final Tuning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Sensor offset adjusted and valves fine-tuned.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ST1 Component-Level Testing (Unit)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13 components tested individually.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ST2 Sub-System Integration Testing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Group interactions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ST3 System-Level Validation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Complete clinical scenario looped.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Performance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FSR latency &lt; 150ms, Accuracy +/- 1 kPa.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Achievements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Pneumatic-assisted ROM restoration verified.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Tracking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0-100% grip strength scale for quantitative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Safety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Real-time display with auto pressure shutoff.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Future Enhancements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Mobile App, Wireless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Clinical Trials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Validate therapeutic efficacy across larger groups.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97316"/>
                </a:solidFill>
              </a:defRPr>
            </a:pPr>
            <a:r>
              <a:t>Work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Supervision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Dr. Essam Nabil &amp; Dr. Ghada El-Banby.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Institution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Menoufia University.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Team Members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15 dedicated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548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  <a:p>
            <a:pPr>
              <a:defRPr b="1" sz="1600">
                <a:solidFill>
                  <a:srgbClr val="111827"/>
                </a:solidFill>
              </a:defRPr>
            </a:pPr>
            <a:r>
              <a:t>Special Thanks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For the invaluable support and dedication.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