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Rehabilitation Glove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Graduation Project 2026</a:t>
            </a:r>
          </a:p>
          <a:p>
            <a:r>
              <a:t>Menoufia University</a:t>
            </a:r>
          </a:p>
          <a:p>
            <a:r>
              <a:t>Supervised By: Dr. Essam Nabil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Integrated Therapeutic System.</a:t>
            </a:r>
          </a:p>
          <a:p>
            <a:r>
              <a:t>A smart wearable rehabilitation glove for patients with neurological impairments.</a:t>
            </a:r>
          </a:p>
          <a:p>
            <a:r>
              <a:t>TENS Module: Transcutaneous Electrical Nerve Stimulation.</a:t>
            </a:r>
          </a:p>
          <a:p>
            <a:r>
              <a:t>Vibration Therapy Module: ERM haptic actuators.</a:t>
            </a:r>
          </a:p>
          <a:p>
            <a:r>
              <a:t>Force Measurement Module: FSR sensors mapped to 0-100% grip.</a:t>
            </a:r>
          </a:p>
        </p:txBody>
      </p:sp>
      <p:pic>
        <p:nvPicPr>
          <p:cNvPr id="4" name="Picture 3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04382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Challenges of Hand Rehabilitation:</a:t>
            </a:r>
          </a:p>
          <a:p>
            <a:r>
              <a:t>- Limited Range of Motion</a:t>
            </a:r>
          </a:p>
          <a:p>
            <a:r>
              <a:t>- Muscle Atrophy &amp; Weakness</a:t>
            </a:r>
          </a:p>
          <a:p>
            <a:r>
              <a:t>- Sensory Deficits</a:t>
            </a:r>
          </a:p>
          <a:p>
            <a:r>
              <a:t>- Impaired Coordination</a:t>
            </a:r>
          </a:p>
          <a:p>
            <a:r>
              <a:t>- Chronic Pain</a:t>
            </a:r>
          </a:p>
          <a:p>
            <a:r>
              <a:t>Our Smart Solution: An integrated wearable glove.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Evolution of Hand Rehabilitation:</a:t>
            </a:r>
          </a:p>
          <a:p>
            <a:r>
              <a:t>- Ancient Era: Primitive splinting</a:t>
            </a:r>
          </a:p>
          <a:p>
            <a:r>
              <a:t>- 18th-19th Century: Surgical Pioneers</a:t>
            </a:r>
          </a:p>
          <a:p>
            <a:r>
              <a:t>- World Wars: Wartime Innovation &amp; FES</a:t>
            </a:r>
          </a:p>
          <a:p>
            <a:r>
              <a:t>- 1950s-1977: Formal Specialty</a:t>
            </a:r>
          </a:p>
          <a:p>
            <a:r>
              <a:t>- Today 2026: Smart Wearables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Aim to Achieve:</a:t>
            </a:r>
          </a:p>
          <a:p>
            <a:r>
              <a:t>1. Restoring Range of Motion (ROM)</a:t>
            </a:r>
          </a:p>
          <a:p>
            <a:r>
              <a:t>2. Increasing Strength &amp; Dexterity</a:t>
            </a:r>
          </a:p>
          <a:p>
            <a:r>
              <a:t>3. Non-Invasive Pain Management</a:t>
            </a:r>
          </a:p>
        </p:txBody>
      </p:sp>
      <p:pic>
        <p:nvPicPr>
          <p:cNvPr id="4" name="Picture 3" descr="im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17508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Beyond Basic Recovery:</a:t>
            </a:r>
          </a:p>
          <a:p>
            <a:r>
              <a:t>4. Enhancing Activities of Daily Living</a:t>
            </a:r>
          </a:p>
          <a:p>
            <a:r>
              <a:t>5. Improving Coordination &amp; Proprioception</a:t>
            </a:r>
          </a:p>
          <a:p>
            <a:r>
              <a:t>Customized Plans for targeted therapy.</a:t>
            </a:r>
          </a:p>
          <a:p>
            <a:r>
              <a:t>Scar Management techniques.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4-Layer Design Philosophy:</a:t>
            </a:r>
          </a:p>
          <a:p>
            <a:r>
              <a:t>1. Input &amp; Sensing Layer: Flex + FSR sensors</a:t>
            </a:r>
          </a:p>
          <a:p>
            <a:r>
              <a:t>2. Processing &amp; Control: ESP32 dual-core</a:t>
            </a:r>
          </a:p>
          <a:p>
            <a:r>
              <a:t>3. Actuation &amp; Power: Solenoid valves + MOSFET</a:t>
            </a:r>
          </a:p>
          <a:p>
            <a:r>
              <a:t>4. Feedback &amp; Interface: LCD display</a:t>
            </a:r>
          </a:p>
        </p:txBody>
      </p:sp>
      <p:pic>
        <p:nvPicPr>
          <p:cNvPr id="4" name="Picture 3" descr="image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77305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Materials &amp; Methods: 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Control, Power &amp; Actuation:</a:t>
            </a:r>
          </a:p>
          <a:p>
            <a:r>
              <a:t>- ESP32 Microcontroller</a:t>
            </a:r>
          </a:p>
          <a:p>
            <a:r>
              <a:t>- Pneumatic Glove</a:t>
            </a:r>
          </a:p>
          <a:p>
            <a:r>
              <a:t>- LCD Display Screen</a:t>
            </a:r>
          </a:p>
          <a:p>
            <a:r>
              <a:t>- MOSFET Module</a:t>
            </a:r>
          </a:p>
          <a:p>
            <a:r>
              <a:t>- Power Supply Adaptor</a:t>
            </a:r>
          </a:p>
          <a:p>
            <a:r>
              <a:t>- Voltage Regulator (LM2596)</a:t>
            </a:r>
          </a:p>
        </p:txBody>
      </p:sp>
      <p:pic>
        <p:nvPicPr>
          <p:cNvPr id="4" name="Picture 3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04382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Materials &amp; Methods: Sensors &amp;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Sensing, Feedback &amp; Therapy:</a:t>
            </a:r>
          </a:p>
          <a:p>
            <a:r>
              <a:t>- TENS Cable &amp; Electrodes</a:t>
            </a:r>
          </a:p>
          <a:p>
            <a:r>
              <a:t>- Vibration Motor (ERM)</a:t>
            </a:r>
          </a:p>
          <a:p>
            <a:r>
              <a:t>- Force Sensor (FSR)</a:t>
            </a:r>
          </a:p>
          <a:p>
            <a:r>
              <a:t>- Solenoid Valves</a:t>
            </a:r>
          </a:p>
          <a:p>
            <a:r>
              <a:t>- Voltage Regulator 7805</a:t>
            </a:r>
          </a:p>
          <a:p>
            <a:r>
              <a:t>- Air Pressure Sensor HX710B</a:t>
            </a:r>
          </a:p>
        </p:txBody>
      </p:sp>
      <p:pic>
        <p:nvPicPr>
          <p:cNvPr id="4" name="Picture 3" descr="imag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341071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Methodology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6-Phase Top-Down Approach:</a:t>
            </a:r>
          </a:p>
          <a:p>
            <a:r>
              <a:t>1. Analysis &amp; Requirements</a:t>
            </a:r>
          </a:p>
          <a:p>
            <a:r>
              <a:t>2. Theoretical Design</a:t>
            </a:r>
          </a:p>
          <a:p>
            <a:r>
              <a:t>3. Modular Assembly &amp; Unit Testing</a:t>
            </a:r>
          </a:p>
        </p:txBody>
      </p:sp>
      <p:pic>
        <p:nvPicPr>
          <p:cNvPr id="4" name="Picture 3" descr="image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828800"/>
            <a:ext cx="49377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Methodology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Integration &amp; Calibration:</a:t>
            </a:r>
          </a:p>
          <a:p>
            <a:r>
              <a:t>4. Full System Integration</a:t>
            </a:r>
          </a:p>
          <a:p>
            <a:r>
              <a:t>5. Functional Verification</a:t>
            </a:r>
          </a:p>
          <a:p>
            <a:r>
              <a:t>6. Calibration &amp; Final Tuning</a:t>
            </a:r>
          </a:p>
          <a:p>
            <a:r>
              <a:t>Developed with Arduino IDE (C++) and CAD software.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Rigorous 3-Stage Test Strategy:</a:t>
            </a:r>
          </a:p>
          <a:p>
            <a:r>
              <a:t>- ST1: Component-Level Testing (Unit)</a:t>
            </a:r>
          </a:p>
          <a:p>
            <a:r>
              <a:t>- ST2: Sub-System Integration Testing</a:t>
            </a:r>
          </a:p>
          <a:p>
            <a:r>
              <a:t>- ST3: System-Level Validation (End-to-End)</a:t>
            </a:r>
          </a:p>
          <a:p>
            <a:r>
              <a:t>Measured Performance:</a:t>
            </a:r>
          </a:p>
          <a:p>
            <a:r>
              <a:t>FSR -&gt; Valve Latency &lt; 150ms</a:t>
            </a:r>
          </a:p>
          <a:p>
            <a:r>
              <a:t>Pressure Accuracy +/- 1 kPa</a:t>
            </a:r>
          </a:p>
          <a:p>
            <a:r>
              <a:t>Display Refresh Rate ~20 Hz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Achievements &amp; Future Work:</a:t>
            </a:r>
          </a:p>
          <a:p>
            <a:r>
              <a:t>- Pneumatic-assisted ROM restoration verified</a:t>
            </a:r>
          </a:p>
          <a:p>
            <a:r>
              <a:t>- 0-100% grip strength scale implemented</a:t>
            </a:r>
          </a:p>
          <a:p>
            <a:r>
              <a:t>- TENS pain management integrated</a:t>
            </a:r>
          </a:p>
          <a:p>
            <a:r>
              <a:t>- All 9 requirement areas passed tests</a:t>
            </a:r>
          </a:p>
          <a:p>
            <a:r>
              <a:t>Future Work:</a:t>
            </a:r>
          </a:p>
          <a:p>
            <a:r>
              <a:t>Mobile App / PC Dashboard, Wireless Monitoring, Clinical Trials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by: Dr. Essam Nabil</a:t>
            </a:r>
          </a:p>
          <a:p>
            <a:r>
              <a:t>Head of Dept: Dr. Ghada El-Banby</a:t>
            </a:r>
          </a:p>
          <a:p>
            <a:r>
              <a:t>Menoufia University</a:t>
            </a:r>
          </a:p>
          <a:p>
            <a:r>
              <a:t>Team of 15 members.</a:t>
            </a:r>
          </a:p>
          <a:p>
            <a:r>
              <a:t>Thank you for your support!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